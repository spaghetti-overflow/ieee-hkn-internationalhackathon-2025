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d04d3cb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d04d3cb1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6.jpg"/><Relationship Id="rId5" Type="http://schemas.openxmlformats.org/officeDocument/2006/relationships/image" Target="../media/image8.jp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4.jpg"/><Relationship Id="rId5" Type="http://schemas.openxmlformats.org/officeDocument/2006/relationships/image" Target="../media/image14.jpg"/><Relationship Id="rId6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666750" y="8545830"/>
            <a:ext cx="719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Speaker: Renato Mignone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3820575"/>
            <a:ext cx="114993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5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999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International Hackathon 2025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4324686"/>
            <a:ext cx="7194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Team 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-2337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4"/>
          <p:cNvSpPr/>
          <p:nvPr/>
        </p:nvSpPr>
        <p:spPr>
          <a:xfrm>
            <a:off x="13451413" y="2728856"/>
            <a:ext cx="2162240" cy="1786693"/>
          </a:xfrm>
          <a:custGeom>
            <a:rect b="b" l="l" r="r" t="t"/>
            <a:pathLst>
              <a:path extrusionOk="0" h="1786693" w="2162240">
                <a:moveTo>
                  <a:pt x="0" y="0"/>
                </a:moveTo>
                <a:lnTo>
                  <a:pt x="2162240" y="0"/>
                </a:lnTo>
                <a:lnTo>
                  <a:pt x="2162240" y="1786693"/>
                </a:lnTo>
                <a:lnTo>
                  <a:pt x="0" y="1786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4"/>
          <p:cNvSpPr/>
          <p:nvPr/>
        </p:nvSpPr>
        <p:spPr>
          <a:xfrm>
            <a:off x="8039500" y="2728856"/>
            <a:ext cx="2162240" cy="1786693"/>
          </a:xfrm>
          <a:custGeom>
            <a:rect b="b" l="l" r="r" t="t"/>
            <a:pathLst>
              <a:path extrusionOk="0" h="1786693" w="2162240">
                <a:moveTo>
                  <a:pt x="0" y="0"/>
                </a:moveTo>
                <a:lnTo>
                  <a:pt x="2162240" y="0"/>
                </a:lnTo>
                <a:lnTo>
                  <a:pt x="2162240" y="1786693"/>
                </a:lnTo>
                <a:lnTo>
                  <a:pt x="0" y="1786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2629235" y="2745395"/>
            <a:ext cx="2162240" cy="1786693"/>
          </a:xfrm>
          <a:custGeom>
            <a:rect b="b" l="l" r="r" t="t"/>
            <a:pathLst>
              <a:path extrusionOk="0" h="1786693" w="2162240">
                <a:moveTo>
                  <a:pt x="0" y="0"/>
                </a:moveTo>
                <a:lnTo>
                  <a:pt x="2162240" y="0"/>
                </a:lnTo>
                <a:lnTo>
                  <a:pt x="2162240" y="1786693"/>
                </a:lnTo>
                <a:lnTo>
                  <a:pt x="0" y="1786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6" name="Google Shape;96;p14"/>
          <p:cNvGrpSpPr/>
          <p:nvPr/>
        </p:nvGrpSpPr>
        <p:grpSpPr>
          <a:xfrm>
            <a:off x="1547763" y="5064919"/>
            <a:ext cx="4325175" cy="3263657"/>
            <a:chOff x="-142075" y="-104775"/>
            <a:chExt cx="5766900" cy="4351542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-142075" y="1132467"/>
              <a:ext cx="5766900" cy="3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99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mandatory priority. Never miss a funding application with a dedicated tracking system for administrative and grant deadlines.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104775"/>
              <a:ext cx="53466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7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Deadline Radar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7045469" y="5064919"/>
            <a:ext cx="4009950" cy="3273282"/>
            <a:chOff x="0" y="-104775"/>
            <a:chExt cx="5346600" cy="4364376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0" y="1144101"/>
              <a:ext cx="5346600" cy="3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30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Budgets are strictly linked to academic years, keeping historical data accessible but distinct from current operations.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104775"/>
              <a:ext cx="53466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7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Academic Year Logic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12438266" y="5064919"/>
            <a:ext cx="4197150" cy="3273282"/>
            <a:chOff x="0" y="-104775"/>
            <a:chExt cx="5596200" cy="4364376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0" y="1144101"/>
              <a:ext cx="5596200" cy="31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30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One-click CSV &amp; PDF generation. All reports automatically convert timestamps to the user's local time zone.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-104775"/>
              <a:ext cx="5596084" cy="614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67" u="none" cap="none" strike="noStrike">
                  <a:solidFill>
                    <a:srgbClr val="112C4C"/>
                  </a:solidFill>
                  <a:latin typeface="Questrial"/>
                  <a:ea typeface="Questrial"/>
                  <a:cs typeface="Questrial"/>
                  <a:sym typeface="Questrial"/>
                </a:rPr>
                <a:t>Smart Exports</a:t>
              </a:r>
              <a:endParaRPr/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028700" y="713750"/>
            <a:ext cx="12263175" cy="2015106"/>
            <a:chOff x="0" y="196092"/>
            <a:chExt cx="16350900" cy="2686808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0" y="196092"/>
              <a:ext cx="16350900" cy="14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Cockpit for Treasurers</a:t>
              </a:r>
              <a:endParaRPr b="1" sz="7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1218113" y="2208312"/>
            <a:ext cx="4303123" cy="2959628"/>
          </a:xfrm>
          <a:custGeom>
            <a:rect b="b" l="l" r="r" t="t"/>
            <a:pathLst>
              <a:path extrusionOk="0" h="841401" w="1223347">
                <a:moveTo>
                  <a:pt x="35988" y="0"/>
                </a:moveTo>
                <a:lnTo>
                  <a:pt x="1187360" y="0"/>
                </a:lnTo>
                <a:cubicBezTo>
                  <a:pt x="1207235" y="0"/>
                  <a:pt x="1223347" y="16112"/>
                  <a:pt x="1223347" y="35988"/>
                </a:cubicBezTo>
                <a:lnTo>
                  <a:pt x="1223347" y="805413"/>
                </a:lnTo>
                <a:cubicBezTo>
                  <a:pt x="1223347" y="825289"/>
                  <a:pt x="1207235" y="841401"/>
                  <a:pt x="1187360" y="841401"/>
                </a:cubicBezTo>
                <a:lnTo>
                  <a:pt x="35988" y="841401"/>
                </a:lnTo>
                <a:cubicBezTo>
                  <a:pt x="16112" y="841401"/>
                  <a:pt x="0" y="825289"/>
                  <a:pt x="0" y="805413"/>
                </a:cubicBezTo>
                <a:lnTo>
                  <a:pt x="0" y="35988"/>
                </a:lnTo>
                <a:cubicBezTo>
                  <a:pt x="0" y="16112"/>
                  <a:pt x="16112" y="0"/>
                  <a:pt x="35988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336" l="0" r="0" t="-933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631543" y="2208104"/>
            <a:ext cx="4303123" cy="2959628"/>
          </a:xfrm>
          <a:custGeom>
            <a:rect b="b" l="l" r="r" t="t"/>
            <a:pathLst>
              <a:path extrusionOk="0" h="841401" w="1223347">
                <a:moveTo>
                  <a:pt x="35988" y="0"/>
                </a:moveTo>
                <a:lnTo>
                  <a:pt x="1187360" y="0"/>
                </a:lnTo>
                <a:cubicBezTo>
                  <a:pt x="1207235" y="0"/>
                  <a:pt x="1223347" y="16112"/>
                  <a:pt x="1223347" y="35988"/>
                </a:cubicBezTo>
                <a:lnTo>
                  <a:pt x="1223347" y="805413"/>
                </a:lnTo>
                <a:cubicBezTo>
                  <a:pt x="1223347" y="825289"/>
                  <a:pt x="1207235" y="841401"/>
                  <a:pt x="1187360" y="841401"/>
                </a:cubicBezTo>
                <a:lnTo>
                  <a:pt x="35988" y="841401"/>
                </a:lnTo>
                <a:cubicBezTo>
                  <a:pt x="16112" y="841401"/>
                  <a:pt x="0" y="825289"/>
                  <a:pt x="0" y="805413"/>
                </a:cubicBezTo>
                <a:lnTo>
                  <a:pt x="0" y="35988"/>
                </a:lnTo>
                <a:cubicBezTo>
                  <a:pt x="0" y="16112"/>
                  <a:pt x="16112" y="0"/>
                  <a:pt x="35988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36" l="0" r="0" t="-933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1798657" y="2208538"/>
            <a:ext cx="4302519" cy="2959212"/>
          </a:xfrm>
          <a:custGeom>
            <a:rect b="b" l="l" r="r" t="t"/>
            <a:pathLst>
              <a:path extrusionOk="0" h="2959212" w="4302519">
                <a:moveTo>
                  <a:pt x="0" y="0"/>
                </a:moveTo>
                <a:lnTo>
                  <a:pt x="4302518" y="0"/>
                </a:lnTo>
                <a:lnTo>
                  <a:pt x="4302518" y="2959212"/>
                </a:lnTo>
                <a:lnTo>
                  <a:pt x="0" y="2959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1704" r="-14202" t="0"/>
            </a:stretch>
          </a:blipFill>
          <a:ln>
            <a:noFill/>
          </a:ln>
        </p:spPr>
      </p:sp>
      <p:grpSp>
        <p:nvGrpSpPr>
          <p:cNvPr id="116" name="Google Shape;116;p15"/>
          <p:cNvGrpSpPr/>
          <p:nvPr/>
        </p:nvGrpSpPr>
        <p:grpSpPr>
          <a:xfrm>
            <a:off x="1028700" y="5545052"/>
            <a:ext cx="4681350" cy="3116219"/>
            <a:chOff x="0" y="-104775"/>
            <a:chExt cx="6241800" cy="4154959"/>
          </a:xfrm>
        </p:grpSpPr>
        <p:sp>
          <p:nvSpPr>
            <p:cNvPr id="117" name="Google Shape;117;p15"/>
            <p:cNvSpPr txBox="1"/>
            <p:nvPr/>
          </p:nvSpPr>
          <p:spPr>
            <a:xfrm>
              <a:off x="0" y="730984"/>
              <a:ext cx="6241800" cy="3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2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automated make up workflow spins up a full Nginx-proxied stack. Includes automated seeding utilities and volume persistence to maintain state across development sessions.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0" y="-104775"/>
              <a:ext cx="62418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Docker Containerization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6391425" y="6047661"/>
            <a:ext cx="47259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Frontent: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React 18 + Vite. Fast, component-based UI with Recharts for data visualization.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19850" y="5518858"/>
            <a:ext cx="472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Tech Stack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1798694" y="5516706"/>
            <a:ext cx="4302450" cy="3144569"/>
            <a:chOff x="0" y="-104775"/>
            <a:chExt cx="5736600" cy="4192759"/>
          </a:xfrm>
        </p:grpSpPr>
        <p:sp>
          <p:nvSpPr>
            <p:cNvPr id="122" name="Google Shape;122;p15"/>
            <p:cNvSpPr txBox="1"/>
            <p:nvPr/>
          </p:nvSpPr>
          <p:spPr>
            <a:xfrm>
              <a:off x="0" y="768784"/>
              <a:ext cx="5736600" cy="3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4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2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PostgreSQL 16. Advanced relational data modeling that links users, budgets, and transactions. specialized schema handles complex academic-year logic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0" y="-104775"/>
              <a:ext cx="57366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12C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4" name="Google Shape;124;p15"/>
          <p:cNvSpPr txBox="1"/>
          <p:nvPr/>
        </p:nvSpPr>
        <p:spPr>
          <a:xfrm>
            <a:off x="1028700" y="637211"/>
            <a:ext cx="14078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Modern Technology Stack</a:t>
            </a:r>
            <a:endParaRPr b="1"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391425" y="7794460"/>
            <a:ext cx="47259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Backend: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Express 4. RESTful API architecture with JWT sessions and robust middleware.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-28864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6"/>
          <p:cNvSpPr txBox="1"/>
          <p:nvPr/>
        </p:nvSpPr>
        <p:spPr>
          <a:xfrm>
            <a:off x="1028700" y="608336"/>
            <a:ext cx="15508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Advanced Features</a:t>
            </a:r>
            <a:endParaRPr b="1" sz="7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311850" y="3073525"/>
            <a:ext cx="38655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Role-Based Access Control:</a:t>
            </a:r>
            <a:endParaRPr b="1" sz="2000">
              <a:solidFill>
                <a:srgbClr val="112C4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 Distinct tiers for Admins, Treasurers, and Members to ensure data integrity.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853600" y="6247025"/>
            <a:ext cx="42222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Receipt Management: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Upload and attach digital proofs directly to transaction for effortless auditing.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311850" y="6230225"/>
            <a:ext cx="38655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Event-Linked Budgeting:</a:t>
            </a:r>
            <a:endParaRPr b="1" sz="2020">
              <a:solidFill>
                <a:srgbClr val="112C4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Tie every dollar to a specific chapter activity for precise tracking.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1853600" y="3065125"/>
            <a:ext cx="42789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Secure Authentication:</a:t>
            </a:r>
            <a:endParaRPr b="1" sz="2020">
              <a:solidFill>
                <a:srgbClr val="112C4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Fully implemented Google OAuth and TOTP Two Factor Authentication (2FA).</a:t>
            </a:r>
            <a:endParaRPr sz="2020">
              <a:solidFill>
                <a:srgbClr val="112C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5350" y="2499625"/>
            <a:ext cx="2990999" cy="294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676" y="5697575"/>
            <a:ext cx="2990996" cy="259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19975" y="5697575"/>
            <a:ext cx="2990999" cy="2599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6675" y="2494350"/>
            <a:ext cx="3387574" cy="294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7"/>
          <p:cNvSpPr/>
          <p:nvPr/>
        </p:nvSpPr>
        <p:spPr>
          <a:xfrm rot="8594">
            <a:off x="846591" y="2543110"/>
            <a:ext cx="8209828" cy="5894494"/>
          </a:xfrm>
          <a:custGeom>
            <a:rect b="b" l="l" r="r" t="t"/>
            <a:pathLst>
              <a:path extrusionOk="0" h="5894476" w="8209802">
                <a:moveTo>
                  <a:pt x="0" y="14311"/>
                </a:moveTo>
                <a:lnTo>
                  <a:pt x="8199539" y="0"/>
                </a:lnTo>
                <a:lnTo>
                  <a:pt x="8209802" y="5880165"/>
                </a:lnTo>
                <a:lnTo>
                  <a:pt x="10263" y="5894476"/>
                </a:lnTo>
                <a:lnTo>
                  <a:pt x="0" y="1431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9" l="0" r="-719" t="0"/>
            </a:stretch>
          </a:blipFill>
          <a:ln>
            <a:noFill/>
          </a:ln>
        </p:spPr>
      </p:sp>
      <p:sp>
        <p:nvSpPr>
          <p:cNvPr id="146" name="Google Shape;146;p17"/>
          <p:cNvSpPr/>
          <p:nvPr/>
        </p:nvSpPr>
        <p:spPr>
          <a:xfrm>
            <a:off x="9255425" y="2547168"/>
            <a:ext cx="8178629" cy="5913164"/>
          </a:xfrm>
          <a:custGeom>
            <a:rect b="b" l="l" r="r" t="t"/>
            <a:pathLst>
              <a:path extrusionOk="0" h="5913164" w="8178629">
                <a:moveTo>
                  <a:pt x="0" y="0"/>
                </a:moveTo>
                <a:lnTo>
                  <a:pt x="8178628" y="0"/>
                </a:lnTo>
                <a:lnTo>
                  <a:pt x="8178628" y="5913164"/>
                </a:lnTo>
                <a:lnTo>
                  <a:pt x="0" y="5913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029" t="0"/>
            </a:stretch>
          </a:blipFill>
          <a:ln>
            <a:noFill/>
          </a:ln>
        </p:spPr>
      </p:sp>
      <p:sp>
        <p:nvSpPr>
          <p:cNvPr id="147" name="Google Shape;147;p17"/>
          <p:cNvSpPr txBox="1"/>
          <p:nvPr/>
        </p:nvSpPr>
        <p:spPr>
          <a:xfrm>
            <a:off x="1028700" y="637200"/>
            <a:ext cx="15508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Application Demo - Desktop</a:t>
            </a:r>
            <a:endParaRPr b="1" sz="7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8"/>
          <p:cNvSpPr/>
          <p:nvPr/>
        </p:nvSpPr>
        <p:spPr>
          <a:xfrm>
            <a:off x="2513614" y="2346518"/>
            <a:ext cx="3186425" cy="6356958"/>
          </a:xfrm>
          <a:custGeom>
            <a:rect b="b" l="l" r="r" t="t"/>
            <a:pathLst>
              <a:path extrusionOk="0" h="6356958" w="3186425">
                <a:moveTo>
                  <a:pt x="0" y="0"/>
                </a:moveTo>
                <a:lnTo>
                  <a:pt x="3186426" y="0"/>
                </a:lnTo>
                <a:lnTo>
                  <a:pt x="318642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8"/>
          <p:cNvSpPr/>
          <p:nvPr/>
        </p:nvSpPr>
        <p:spPr>
          <a:xfrm>
            <a:off x="11546784" y="2346518"/>
            <a:ext cx="3146694" cy="6356958"/>
          </a:xfrm>
          <a:custGeom>
            <a:rect b="b" l="l" r="r" t="t"/>
            <a:pathLst>
              <a:path extrusionOk="0"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8"/>
          <p:cNvSpPr/>
          <p:nvPr/>
        </p:nvSpPr>
        <p:spPr>
          <a:xfrm>
            <a:off x="7030199" y="2346518"/>
            <a:ext cx="3186425" cy="6356958"/>
          </a:xfrm>
          <a:custGeom>
            <a:rect b="b" l="l" r="r" t="t"/>
            <a:pathLst>
              <a:path extrusionOk="0" h="6356958" w="3186425">
                <a:moveTo>
                  <a:pt x="0" y="0"/>
                </a:moveTo>
                <a:lnTo>
                  <a:pt x="3186425" y="0"/>
                </a:lnTo>
                <a:lnTo>
                  <a:pt x="31864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8"/>
          <p:cNvSpPr txBox="1"/>
          <p:nvPr/>
        </p:nvSpPr>
        <p:spPr>
          <a:xfrm>
            <a:off x="1028700" y="637200"/>
            <a:ext cx="148845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Application Demo - Mo</a:t>
            </a:r>
            <a:r>
              <a:rPr b="1" lang="en-US" sz="7000">
                <a:solidFill>
                  <a:srgbClr val="112C4C"/>
                </a:solidFill>
                <a:latin typeface="Montserrat"/>
                <a:ea typeface="Montserrat"/>
                <a:cs typeface="Montserrat"/>
                <a:sym typeface="Montserrat"/>
              </a:rPr>
              <a:t>bile</a:t>
            </a:r>
            <a:endParaRPr b="1" sz="7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2" name="Google Shape;162;p19"/>
          <p:cNvGrpSpPr/>
          <p:nvPr/>
        </p:nvGrpSpPr>
        <p:grpSpPr>
          <a:xfrm>
            <a:off x="871572" y="2871418"/>
            <a:ext cx="6938324" cy="1431582"/>
            <a:chOff x="0" y="-66675"/>
            <a:chExt cx="9251099" cy="1908776"/>
          </a:xfrm>
        </p:grpSpPr>
        <p:sp>
          <p:nvSpPr>
            <p:cNvPr id="163" name="Google Shape;163;p19"/>
            <p:cNvSpPr/>
            <p:nvPr/>
          </p:nvSpPr>
          <p:spPr>
            <a:xfrm>
              <a:off x="4134627" y="1280053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6" y="0"/>
                  </a:lnTo>
                  <a:lnTo>
                    <a:pt x="520926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4" name="Google Shape;164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5" name="Google Shape;165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andrea.botticella@hknpolito.org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Andrea Botticella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644650" y="1329034"/>
              <a:ext cx="33663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61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</a:t>
              </a: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andrea-botticella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4779253" y="1329028"/>
              <a:ext cx="2757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@Botti01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871572" y="6533418"/>
            <a:ext cx="6938324" cy="1431582"/>
            <a:chOff x="0" y="-66675"/>
            <a:chExt cx="9251099" cy="1908776"/>
          </a:xfrm>
        </p:grpSpPr>
        <p:sp>
          <p:nvSpPr>
            <p:cNvPr id="170" name="Google Shape;170;p19"/>
            <p:cNvSpPr/>
            <p:nvPr/>
          </p:nvSpPr>
          <p:spPr>
            <a:xfrm>
              <a:off x="4134627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6" y="0"/>
                  </a:lnTo>
                  <a:lnTo>
                    <a:pt x="520926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1" name="Google Shape;171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2" name="Google Shape;172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renato.mignone@hknpolito.org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Renato Mignone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597083" y="1370151"/>
              <a:ext cx="34614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@renato-mignone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4801320" y="1370151"/>
              <a:ext cx="345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@RenatoMignone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871572" y="4789892"/>
            <a:ext cx="6938324" cy="1431582"/>
            <a:chOff x="0" y="-66675"/>
            <a:chExt cx="9251099" cy="1908776"/>
          </a:xfrm>
        </p:grpSpPr>
        <p:sp>
          <p:nvSpPr>
            <p:cNvPr id="177" name="Google Shape;177;p19"/>
            <p:cNvSpPr/>
            <p:nvPr/>
          </p:nvSpPr>
          <p:spPr>
            <a:xfrm>
              <a:off x="4134627" y="1321165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6" y="0"/>
                  </a:lnTo>
                  <a:lnTo>
                    <a:pt x="520926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8" name="Google Shape;178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9" name="Google Shape;179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elia.innocenti@hknpolito.org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Elia Innocenti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609683" y="1370151"/>
              <a:ext cx="2757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@eliainnocenti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4812120" y="1370140"/>
              <a:ext cx="2757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@eliainnocenti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3" name="Google Shape;183;p19"/>
          <p:cNvGrpSpPr/>
          <p:nvPr/>
        </p:nvGrpSpPr>
        <p:grpSpPr>
          <a:xfrm>
            <a:off x="7458476" y="2871418"/>
            <a:ext cx="6938324" cy="1431582"/>
            <a:chOff x="0" y="-66675"/>
            <a:chExt cx="9251099" cy="1908776"/>
          </a:xfrm>
        </p:grpSpPr>
        <p:sp>
          <p:nvSpPr>
            <p:cNvPr id="184" name="Google Shape;184;p19"/>
            <p:cNvSpPr/>
            <p:nvPr/>
          </p:nvSpPr>
          <p:spPr>
            <a:xfrm>
              <a:off x="4276920" y="1279393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5" name="Google Shape;185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6" name="Google Shape;186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simone.romano@hknpolito.org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Simone Romano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622250" y="1328368"/>
              <a:ext cx="32502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@simone-romano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4899445" y="1273551"/>
              <a:ext cx="2757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@sroman0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7458467" y="6532436"/>
            <a:ext cx="6938324" cy="1431582"/>
            <a:chOff x="0" y="-66675"/>
            <a:chExt cx="9251099" cy="1908776"/>
          </a:xfrm>
        </p:grpSpPr>
        <p:sp>
          <p:nvSpPr>
            <p:cNvPr id="191" name="Google Shape;191;p19"/>
            <p:cNvSpPr/>
            <p:nvPr/>
          </p:nvSpPr>
          <p:spPr>
            <a:xfrm>
              <a:off x="427692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2" name="Google Shape;192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3" name="Google Shape;193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claudia.sanna@hknpolito.org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Claudia Sanna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624866" y="1370151"/>
              <a:ext cx="35481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@claudiasanna1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4901778" y="1370151"/>
              <a:ext cx="3025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@sananaclaudia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7458467" y="4788910"/>
            <a:ext cx="6938324" cy="1431582"/>
            <a:chOff x="0" y="-66675"/>
            <a:chExt cx="9251099" cy="1908776"/>
          </a:xfrm>
        </p:grpSpPr>
        <p:sp>
          <p:nvSpPr>
            <p:cNvPr id="198" name="Google Shape;198;p19"/>
            <p:cNvSpPr/>
            <p:nvPr/>
          </p:nvSpPr>
          <p:spPr>
            <a:xfrm>
              <a:off x="427692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9" name="Google Shape;199;p19"/>
            <p:cNvSpPr/>
            <p:nvPr/>
          </p:nvSpPr>
          <p:spPr>
            <a:xfrm>
              <a:off x="0" y="1321176"/>
              <a:ext cx="520925" cy="520925"/>
            </a:xfrm>
            <a:custGeom>
              <a:rect b="b" l="l" r="r" t="t"/>
              <a:pathLst>
                <a:path extrusionOk="0" h="520925" w="520925">
                  <a:moveTo>
                    <a:pt x="0" y="0"/>
                  </a:moveTo>
                  <a:lnTo>
                    <a:pt x="520925" y="0"/>
                  </a:lnTo>
                  <a:lnTo>
                    <a:pt x="520925" y="520925"/>
                  </a:lnTo>
                  <a:lnTo>
                    <a:pt x="0" y="5209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0" name="Google Shape;200;p19"/>
            <p:cNvSpPr txBox="1"/>
            <p:nvPr/>
          </p:nvSpPr>
          <p:spPr>
            <a:xfrm>
              <a:off x="68999" y="665726"/>
              <a:ext cx="6630000" cy="4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2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eric.ruizgimenez@hknpolito.org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68999" y="-66675"/>
              <a:ext cx="91821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199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Eric Ruiz Giménez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624866" y="1370151"/>
              <a:ext cx="35481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@eric-ruiz-gimenez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4901778" y="1370151"/>
              <a:ext cx="27570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61" u="none" cap="none" strike="noStrike">
                  <a:solidFill>
                    <a:srgbClr val="0D1B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@thismanera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19"/>
          <p:cNvSpPr txBox="1"/>
          <p:nvPr/>
        </p:nvSpPr>
        <p:spPr>
          <a:xfrm>
            <a:off x="1028700" y="677250"/>
            <a:ext cx="13177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1B263B"/>
                </a:solidFill>
                <a:latin typeface="Montserrat"/>
                <a:ea typeface="Montserrat"/>
                <a:cs typeface="Montserrat"/>
                <a:sym typeface="Montserrat"/>
              </a:rPr>
              <a:t>Thank You! Connect with Us</a:t>
            </a:r>
            <a:endParaRPr b="1" sz="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13132328" y="4628371"/>
            <a:ext cx="431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Mu Nu Chapter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of IEEE-HKN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